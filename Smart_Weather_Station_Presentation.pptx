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 algn="ctr">
              <a:defRPr sz="1500" b="1">
                <a:solidFill>
                  <a:srgbClr val="8C1D22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011680"/>
            <a:ext cx="5790895" cy="36576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97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  <a:latin typeface="Arial"/>
              </a:defRPr>
            </a:pPr>
            <a:r>
              <a:t>SMART IOT WEATHER STATION</a:t>
            </a:r>
          </a:p>
          <a:p>
            <a:pPr algn="ctr">
              <a:defRPr sz="1800">
                <a:solidFill>
                  <a:srgbClr val="168B83"/>
                </a:solidFill>
                <a:latin typeface="Arial"/>
              </a:defRPr>
            </a:pPr>
            <a:r>
              <a:t>Real-Time Microclimate Monitoring with ESP32, DHT22, SSD1306 &amp; Cloud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C1D22"/>
                </a:solidFill>
                <a:latin typeface="Arial"/>
              </a:defRPr>
            </a:pPr>
            <a:r>
              <a:t>MENTOR:</a:t>
            </a:r>
          </a:p>
          <a:p>
            <a:pPr>
              <a:defRPr sz="1500">
                <a:solidFill>
                  <a:srgbClr val="172B2C"/>
                </a:solidFill>
                <a:latin typeface="Arial"/>
              </a:defRPr>
            </a:pPr>
            <a:r>
              <a:t>[Faculty Mentor Name]</a:t>
            </a:r>
          </a:p>
          <a:p>
            <a:pPr>
              <a:defRPr sz="1300">
                <a:solidFill>
                  <a:srgbClr val="646E73"/>
                </a:solidFill>
                <a:latin typeface="Arial"/>
              </a:defRPr>
            </a:pPr>
            <a:r>
              <a:t>Department of ECE, GCET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457200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C57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400">
                <a:solidFill>
                  <a:srgbClr val="172B2C"/>
                </a:solidFill>
                <a:latin typeface="Arial"/>
              </a:defRPr>
            </a:pPr>
            <a:r>
              <a:t>1. Prasoon (Roll No: ________________)</a:t>
            </a:r>
          </a:p>
          <a:p>
            <a:pPr>
              <a:defRPr sz="1400">
                <a:solidFill>
                  <a:srgbClr val="172B2C"/>
                </a:solidFill>
                <a:latin typeface="Arial"/>
              </a:defRPr>
            </a:pPr>
            <a:r>
              <a:t>2. Team Member 2 (Roll No: ________________)</a:t>
            </a:r>
          </a:p>
          <a:p>
            <a:pPr>
              <a:defRPr sz="1400">
                <a:solidFill>
                  <a:srgbClr val="172B2C"/>
                </a:solidFill>
                <a:latin typeface="Arial"/>
              </a:defRPr>
            </a:pPr>
            <a:r>
              <a:t>3. Team Member 3 (Roll No: ________________)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01.  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02. 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54679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03. 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154679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04.  System Architecture &amp; Hardware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0624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05.  Software &amp; Cloud Integration (ThingSpeak &amp; Vercel)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06.  Results &amp; Real-Time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25780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07.  Conclusion &amp; Future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257800"/>
            <a:ext cx="4937760" cy="8229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02C57"/>
                </a:solidFill>
                <a:latin typeface="Arial"/>
              </a:defRPr>
            </a:pPr>
            <a:r>
              <a:t>❖  08.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02C57"/>
                </a:solidFill>
                <a:latin typeface="Arial"/>
              </a:rPr>
              <a:t>• Rapid Urbanization &amp; Microclimate Shifts:</a:t>
            </a:r>
            <a:r>
              <a:rPr b="0" sz="1500">
                <a:solidFill>
                  <a:srgbClr val="172B2C"/>
                </a:solidFill>
                <a:latin typeface="Arial"/>
              </a:rPr>
              <a:t> Localized meteorological variations significantly impact human health, agricultural yields, industrial workspaces, and smart city infrastructure.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02C57"/>
                </a:solidFill>
                <a:latin typeface="Arial"/>
              </a:rPr>
              <a:t>• Limitations of Conventional Weather Stations:</a:t>
            </a:r>
            <a:r>
              <a:rPr b="0" sz="1500">
                <a:solidFill>
                  <a:srgbClr val="172B2C"/>
                </a:solidFill>
                <a:latin typeface="Arial"/>
              </a:rPr>
              <a:t> Traditional weather monitoring systems are bulky, expensive, lack cloud accessibility, and provide low temporal resolution with delays.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02C57"/>
                </a:solidFill>
                <a:latin typeface="Arial"/>
              </a:rPr>
              <a:t>• The Role of IoT &amp; Embedded Systems:</a:t>
            </a:r>
            <a:r>
              <a:rPr b="0" sz="1500">
                <a:solidFill>
                  <a:srgbClr val="172B2C"/>
                </a:solidFill>
                <a:latin typeface="Arial"/>
              </a:rPr>
              <a:t> Internet of Things (IoT) enables distributed, low-power, and compact sensing nodes that capture environmental parameters autonomously in real time.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02C57"/>
                </a:solidFill>
                <a:latin typeface="Arial"/>
              </a:rPr>
              <a:t>• Core Implementation Technology:</a:t>
            </a:r>
            <a:r>
              <a:rPr b="0" sz="1500">
                <a:solidFill>
                  <a:srgbClr val="172B2C"/>
                </a:solidFill>
                <a:latin typeface="Arial"/>
              </a:rPr>
              <a:t> Utilizing the dual-core ESP32 microcontroller with integrated 2.4 GHz Wi-Fi to acquire high-precision temperature and humidity readings from a DHT22 sensor.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02C57"/>
                </a:solidFill>
                <a:latin typeface="Arial"/>
              </a:rPr>
              <a:t>• Edge &amp; Cloud Synergy:</a:t>
            </a:r>
            <a:r>
              <a:rPr b="0" sz="1500">
                <a:solidFill>
                  <a:srgbClr val="172B2C"/>
                </a:solidFill>
                <a:latin typeface="Arial"/>
              </a:rPr>
              <a:t> Sensor telemetry is simultaneously rendered locally on an I2C SSD1306 OLED display for immediate observation and pushed to ThingSpeak IoT Cloud for remote web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b="1" sz="1600">
                <a:solidFill>
                  <a:srgbClr val="E87652"/>
                </a:solidFill>
                <a:latin typeface="Arial"/>
              </a:defRPr>
            </a:pPr>
            <a:r>
              <a:t>✔ Hyper-Local Environmental Tracking</a:t>
            </a:r>
          </a:p>
          <a:p>
            <a:pPr>
              <a:spcBef>
                <a:spcPts val="600"/>
              </a:spcBef>
              <a:defRPr sz="1300">
                <a:solidFill>
                  <a:srgbClr val="172B2C"/>
                </a:solidFill>
                <a:latin typeface="Arial"/>
              </a:defRPr>
            </a:pPr>
            <a:r>
              <a:t>Regional forecast stations are located tens of kilometers away, failing to reflect microclimates in indoor labs, greenhouses, or localized urban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b="1" sz="1600">
                <a:solidFill>
                  <a:srgbClr val="168B83"/>
                </a:solidFill>
                <a:latin typeface="Arial"/>
              </a:defRPr>
            </a:pPr>
            <a:r>
              <a:t>✔ Occupant Thermal Comfort &amp; Safety</a:t>
            </a:r>
          </a:p>
          <a:p>
            <a:pPr>
              <a:spcBef>
                <a:spcPts val="600"/>
              </a:spcBef>
              <a:defRPr sz="1300">
                <a:solidFill>
                  <a:srgbClr val="172B2C"/>
                </a:solidFill>
                <a:latin typeface="Arial"/>
              </a:defRPr>
            </a:pPr>
            <a:r>
              <a:t>Heat stress and humidity levels dictate thermal safety. Computing Heat Index and Dew Point on the edge aids occupational health and HVAC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b="1" sz="1600">
                <a:solidFill>
                  <a:srgbClr val="102C57"/>
                </a:solidFill>
                <a:latin typeface="Arial"/>
              </a:defRPr>
            </a:pPr>
            <a:r>
              <a:t>✔ Affordable &amp; Scalable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172B2C"/>
                </a:solidFill>
                <a:latin typeface="Arial"/>
              </a:defRPr>
            </a:pPr>
            <a:r>
              <a:t>Off-the-shelf industrial weather loggers cost thousands of dollars. An ESP32 + DHT22 platform provides comparable fidelity under $15.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C1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b="1" sz="1600">
                <a:solidFill>
                  <a:srgbClr val="8C1D22"/>
                </a:solidFill>
                <a:latin typeface="Arial"/>
              </a:defRPr>
            </a:pPr>
            <a:r>
              <a:t>✔ Everywhere Access &amp; Historical Trends</a:t>
            </a:r>
          </a:p>
          <a:p>
            <a:pPr>
              <a:spcBef>
                <a:spcPts val="600"/>
              </a:spcBef>
              <a:defRPr sz="1300">
                <a:solidFill>
                  <a:srgbClr val="172B2C"/>
                </a:solidFill>
                <a:latin typeface="Arial"/>
              </a:defRPr>
            </a:pPr>
            <a:r>
              <a:t>Eliminates physical data retrieval by pairing cloud streaming (ThingSpeak) with a zero-install, responsive web dashboard on Vercel.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OBJECTIVE:-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172B2C"/>
                </a:solidFill>
                <a:latin typeface="Arial"/>
              </a:rPr>
              <a:t>• To design and fabricate an autonomous, low-power IoT Weather Monitoring Station using the ESP32 microcontroller.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72B2C"/>
                </a:solidFill>
                <a:latin typeface="Arial"/>
              </a:rPr>
              <a:t>• To interface a high-precision DHT22 (AM2302) sensor to acquire real-time temperature (accuracy ±0.5°C) and relative humidity (accuracy ±2%).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72B2C"/>
                </a:solidFill>
                <a:latin typeface="Arial"/>
              </a:rPr>
              <a:t>• To establish I2C communication with an SSD1306 0.96" OLED display for immediate local readout at the edge node.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72B2C"/>
                </a:solidFill>
                <a:latin typeface="Arial"/>
              </a:rPr>
              <a:t>• To compute thermal metrics (Heat Index and Dew Point) on-board to determine human comfort conditions.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72B2C"/>
                </a:solidFill>
                <a:latin typeface="Arial"/>
              </a:rPr>
              <a:t>• To stream sensor telemetry every 20 seconds to MathWorks ThingSpeak IoT Cloud using secure RESTful HTTP POST requests.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72B2C"/>
                </a:solidFill>
                <a:latin typeface="Arial"/>
              </a:rPr>
              <a:t>• To architect and deploy a modern, reactive web dashboard on Vercel with zero runtime dependencies and 24-hour canvas-based trend plotting.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Description: Hardware Architecture &amp; Interfacing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6289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560320"/>
                <a:gridCol w="2681935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Pin Interface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in System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ESP32 Dev Module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Xtensa Dual-Core 32-bit, 240MHz, 2.4GHz Wi-Fi 802.11 b/g/n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Micro-USB / 3.3V Power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Master controller, Wi-Fi telemetry &amp; HTTP client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DHT22 (AM2302)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-40 to 80°C (±0.5°C), 0 to 100% RH (±2%), 0.5Hz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GPIO 4 (Single-wire digital)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Atmospheric temperature &amp; relative humidity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SSD1306 OLED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0.96" Monochrome 128x64 display, I2C protocol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SDA: GPIO 21</a:t>
                      </a:r>
                      <a:br/>
                      <a:r>
                        <a:t>SCL: GPIO 22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Real-time edge telemetry display and connection indicator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Power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5V DC via USB / Mobile Hotspot Tethering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VIN / 3.3V LDO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Powers microcontroller, sensor, and display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663440"/>
            <a:ext cx="1036289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b="1" sz="1300">
                <a:solidFill>
                  <a:srgbClr val="168B83"/>
                </a:solidFill>
              </a:defRPr>
            </a:pPr>
            <a:r>
              <a:t>HARDWARE PIN INTERCONNECTION SCHEME:</a:t>
            </a:r>
          </a:p>
          <a:p>
            <a:pPr>
              <a:spcBef>
                <a:spcPts val="600"/>
              </a:spcBef>
              <a:defRPr sz="1300">
                <a:solidFill>
                  <a:srgbClr val="172B2C"/>
                </a:solidFill>
                <a:latin typeface="Arial"/>
              </a:defRPr>
            </a:pPr>
            <a:r>
              <a:t>• DHT22 VCC ➜ 3.3V  |  DHT22 DATA ➜ GPIO 4 (with 10kΩ pull-up)  |  DHT22 GND ➜ GND</a:t>
            </a:r>
            <a:br/>
            <a:r>
              <a:t>• OLED VCC ➜ 3.3V   |  OLED GND ➜ GND  |  OLED SDA ➜ GPIO 21  |  OLED SCL ➜ GPIO 22</a:t>
            </a:r>
            <a:br/>
            <a:r>
              <a:t>• Data Transmission Pipeline: DHT22 → ESP32 (Internal Math) → SSD1306 (Local) + Wi-Fi HTTP Post (ThingSpeak)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Description: Software, IoT Cloud &amp; Web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383280" cy="4297680"/>
          </a:xfrm>
          <a:prstGeom prst="roundRect">
            <a:avLst/>
          </a:prstGeom>
          <a:solidFill>
            <a:srgbClr val="F5F7F8"/>
          </a:solidFill>
          <a:ln w="254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400" b="1">
                <a:solidFill>
                  <a:srgbClr val="102C57"/>
                </a:solidFill>
                <a:latin typeface="Arial"/>
              </a:defRPr>
            </a:pPr>
            <a:r>
              <a:t>ESP32 Firmware (C++ / PlatformIO)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Reads DHT22 sensor via Adafruit Unified Sensor drivers.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Calculates Heat Index (Steadman formula) &amp; Dew Point (Magnus formula).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Updates SSD1306 via Adafruit_SSD1306 wire library.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Connects to Wi-Fi Access Point / Mobile Hotspot.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Sends HTTP GET/POST to ThingSpeak API every 20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97680"/>
          </a:xfrm>
          <a:prstGeom prst="roundRect">
            <a:avLst/>
          </a:prstGeom>
          <a:solidFill>
            <a:srgbClr val="F5F7F8"/>
          </a:solidFill>
          <a:ln w="25400">
            <a:solidFill>
              <a:srgbClr val="168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400" b="1">
                <a:solidFill>
                  <a:srgbClr val="168B83"/>
                </a:solidFill>
                <a:latin typeface="Arial"/>
              </a:defRPr>
            </a:pPr>
            <a:r>
              <a:t>ThingSpeak Cloud (MathWorks IoT)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Channel ID: 3531601 (Public Open Data Access).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Field 1: Ambient Temperature (°C)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Field 2: Relative Humidity (%)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Field 3: Heat Index (°C) | Field 4: Dew Point (°C)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Timestamped cloud storage with REST API endpoint.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383280" cy="4297680"/>
          </a:xfrm>
          <a:prstGeom prst="roundRect">
            <a:avLst/>
          </a:prstGeom>
          <a:solidFill>
            <a:srgbClr val="F5F7F8"/>
          </a:solidFill>
          <a:ln w="25400">
            <a:solidFill>
              <a:srgbClr val="E87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400" b="1">
                <a:solidFill>
                  <a:srgbClr val="E87652"/>
                </a:solidFill>
                <a:latin typeface="Arial"/>
              </a:defRPr>
            </a:pPr>
            <a:r>
              <a:t>Frontend Dashboard (Vercel Deployed)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Built with vanilla HTML5, CSS3, and ES6 JavaScript (Zero dependencies).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Continuous live polling every 2s via fetch() with no-store caching.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Dynamic HTML5 Canvas charting showing last 48 readings (~24 hours).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Extremes detection (Min/Max temp &amp; humidity) + Thermal comfort rating.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• Live production link: smart-weather-station.vercel.app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Results &amp; Telemetry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500">
                <a:solidFill>
                  <a:srgbClr val="102C57"/>
                </a:solidFill>
              </a:defRPr>
            </a:pPr>
            <a:r>
              <a:t>LIVE SENSOR TELEMETRY READINGS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Temperature (DHT22): </a:t>
            </a:r>
            <a:r>
              <a:rPr b="0" sz="1200">
                <a:solidFill>
                  <a:srgbClr val="168B83"/>
                </a:solidFill>
              </a:rPr>
              <a:t>26.8 °C (Normal Room Condition)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Relative Humidity: </a:t>
            </a:r>
            <a:r>
              <a:rPr b="0" sz="1200">
                <a:solidFill>
                  <a:srgbClr val="168B83"/>
                </a:solidFill>
              </a:rPr>
              <a:t>69.8 % (Moderate-High Humidity)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Heat Index (Computed): </a:t>
            </a:r>
            <a:r>
              <a:rPr b="0" sz="1200">
                <a:solidFill>
                  <a:srgbClr val="168B83"/>
                </a:solidFill>
              </a:rPr>
              <a:t>28.5 °C (Perceived Temperature)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Dew Point (Computed): </a:t>
            </a:r>
            <a:r>
              <a:rPr b="0" sz="1200">
                <a:solidFill>
                  <a:srgbClr val="168B83"/>
                </a:solidFill>
              </a:rPr>
              <a:t>20.8 °C (Condensation Threshold)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Upload Interval: </a:t>
            </a:r>
            <a:r>
              <a:rPr b="0" sz="1200">
                <a:solidFill>
                  <a:srgbClr val="168B83"/>
                </a:solidFill>
              </a:rPr>
              <a:t>Every 20 sec (ThingSpeak Cloud Rate)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Web Refresh Rate: </a:t>
            </a:r>
            <a:r>
              <a:rPr b="0" sz="1200">
                <a:solidFill>
                  <a:srgbClr val="168B83"/>
                </a:solidFill>
              </a:rPr>
              <a:t>Every 2 sec (Real-Time Client Polling)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72B2C"/>
                </a:solidFill>
              </a:rPr>
              <a:t>• Total Recorded Feeds: </a:t>
            </a:r>
            <a:r>
              <a:rPr b="0" sz="1200">
                <a:solidFill>
                  <a:srgbClr val="168B83"/>
                </a:solidFill>
              </a:rPr>
              <a:t>58+ Feeds (Continuous Operation)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4937760" cy="429768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168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500">
                <a:solidFill>
                  <a:srgbClr val="168B83"/>
                </a:solidFill>
              </a:defRPr>
            </a:pPr>
            <a:r>
              <a:t>CLOUD DEPLOYMENT &amp; METRICS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✔ Zero-Latency Web Display: Real-time dynamic updates using fetch() API with auto-updating clock and status pulse indicator.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✔ HTML5 Canvas 24-Hour Graph: Dual-trace smoothed spline plots rendering temperature (°C) in coral and humidity (%) in teal simultaneously.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✔ Automatic Extremes Calculation: Computes session-wide Low and High markers on the fly from incoming feeds.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✔ Graceful Fallback Mode: Automatic visual alert ('ESP32 offline - connect to Wi-Fi') upon packet drop or network disconnection.</a:t>
            </a:r>
          </a:p>
          <a:p>
            <a:pPr>
              <a:spcBef>
                <a:spcPts val="800"/>
              </a:spcBef>
              <a:defRPr sz="1100">
                <a:solidFill>
                  <a:srgbClr val="172B2C"/>
                </a:solidFill>
                <a:latin typeface="Arial"/>
              </a:defRPr>
            </a:pPr>
            <a:r>
              <a:t>✔ Live Production Deployment: Hosted and globally accessible on Vercel CDN:</a:t>
            </a:r>
            <a:br/>
            <a:r>
              <a:t>  https://smart-weather-station.vercel.app/</a:t>
            </a:r>
            <a:br/>
            <a:r>
              <a:t>  GitHub: github.com/prasoon9999/smart-weather-station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6289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b="1" sz="1500">
                <a:solidFill>
                  <a:srgbClr val="102C57"/>
                </a:solidFill>
              </a:defRPr>
            </a:pPr>
            <a:r>
              <a:t>CONCLUSION: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A highly efficient, low-cost Smart Weather Station was successfully implemented combining embedded edge sensing with cloud computing.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The DHT22 sensor and ESP32 demonstrated stable, accurate data acquisition with local OLED visualization and cloud transmission.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The serverless web dashboard deployed on Vercel delivers seamless, responsive real-time graphical monitoring accessible globally from any web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10362895" cy="201168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E87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b="1" sz="1500">
                <a:solidFill>
                  <a:srgbClr val="E87652"/>
                </a:solidFill>
              </a:defRPr>
            </a:pPr>
            <a:r>
              <a:t>FUTURE SCOPE: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Multi-Sensor Integration: Expanding hardware to include BMP280/BME280 for barometric pressure, rain gauge, and UV intensity sensors.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Energy Harvesting &amp; Autonomy: Integrating solar panels with TP4056 Li-ion battery charging and deep-sleep modes for off-grid deployment.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Intelligent Alert System: Implementing Telegram / SMS / Email Webhook triggers for severe weather warnings and heat stress alarms.</a:t>
            </a:r>
          </a:p>
          <a:p>
            <a:pPr>
              <a:spcBef>
                <a:spcPts val="400"/>
              </a:spcBef>
              <a:defRPr sz="1300">
                <a:solidFill>
                  <a:srgbClr val="172B2C"/>
                </a:solidFill>
              </a:defRPr>
            </a:pPr>
            <a:r>
              <a:t>• Predictive Machine Learning: Utilizing historical cloud feeds to forecast microclimate trends and rainfall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  <a:latin typeface="Arial"/>
              </a:defRPr>
            </a:pPr>
            <a:r>
              <a:t>Galgotias College of Engineering &amp; Technology, Greater Noida</a:t>
            </a:r>
          </a:p>
          <a:p>
            <a:pPr>
              <a:defRPr sz="1100" b="1">
                <a:solidFill>
                  <a:srgbClr val="646E73"/>
                </a:solidFill>
                <a:latin typeface="Arial"/>
              </a:defRPr>
            </a:pPr>
            <a:r>
              <a:t>DEPARTMENT OF ELECTRONICS AND 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REFERENCES:-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011680" cy="45720"/>
          </a:xfrm>
          <a:prstGeom prst="rect">
            <a:avLst/>
          </a:prstGeom>
          <a:solidFill>
            <a:srgbClr val="E8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6289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265615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Research Paper / Technical Standard / Datasheet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1.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Espressif Systems, "ESP32 Series Datasheet - 2.4 GHz Wi-Fi and Bluetooth combo chip," Espressif Inc., Version 3.9, 2023.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Aosong Electronics Co., Ltd., "Digital-output relative humidity &amp; temperature sensor/module DHT22 (AM2302) Datasheet," Guangzhou, China.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3.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K. S. Rao, V. S. Murthy, and T. P. Rao, "IoT Based Real-Time Environmental and Weather Monitoring System using ESP32," IEEE International Conference on Smart Technologies, 2021.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MathWorks, "ThingSpeak Documentation: IoT Analytics with MATLAB Support and RESTful Web Services API," MathWorks Inc., 2024.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5.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N. H. Motlagh, M. Mohammadrezaei, J. Hunt, and B. Zakeri, "Internet of Things (IoT) for Climate Change and Weather Monitoring: Recent Advances and Applications," IEEE Access, vol. 8, pp. 62890-62908, 2020.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2B2C"/>
                          </a:solidFill>
                          <a:latin typeface="Arial"/>
                        </a:defRPr>
                      </a:pPr>
                      <a:r>
                        <a:t>Solomon Systech, "SSD1306 128 x 64 Dot Matrix OLED/PLED Segment/Common Driver with Controller Datasheet," Rev 1.1, 2018.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2C57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2200">
                <a:solidFill>
                  <a:srgbClr val="E87652"/>
                </a:solidFill>
                <a:latin typeface="Arial"/>
              </a:defRPr>
            </a:pPr>
            <a:r>
              <a:t>Questions &amp; Answers</a:t>
            </a:r>
          </a:p>
          <a:p>
            <a:pPr algn="ctr">
              <a:spcBef>
                <a:spcPts val="2000"/>
              </a:spcBef>
              <a:defRPr sz="1400">
                <a:solidFill>
                  <a:srgbClr val="646E73"/>
                </a:solidFill>
                <a:latin typeface="Arial"/>
              </a:defRPr>
            </a:pPr>
            <a:r>
              <a:t>🌐 Live Dashboard: smart-weather-station.vercel.app</a:t>
            </a:r>
            <a:br/>
            <a:r>
              <a:t>📦 GitHub Repository: github.com/prasoon9999/smart-weather-station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