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9997135" cy="539496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31920" y="1188720"/>
            <a:ext cx="4297680" cy="384048"/>
          </a:xfrm>
          <a:prstGeom prst="roundRect">
            <a:avLst/>
          </a:prstGeom>
          <a:solidFill>
            <a:srgbClr val="134E4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⚡ ESP32  •  DHT22  •  THINGSPEAK  •  VERCEL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783080"/>
            <a:ext cx="8899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egoe UI"/>
              </a:defRPr>
            </a:pPr>
            <a:r>
              <a:t>Smart Weather Station</a:t>
            </a:r>
          </a:p>
          <a:p>
            <a:pPr algn="ctr">
              <a:spcBef>
                <a:spcPts val="800"/>
              </a:spcBef>
              <a:defRPr sz="1800">
                <a:solidFill>
                  <a:srgbClr val="38BDF8"/>
                </a:solidFill>
                <a:latin typeface="Segoe UI"/>
              </a:defRPr>
            </a:pPr>
            <a:r>
              <a:t>Autonomous Microclimate Telemetry &amp; Real-Time Cloud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291840"/>
            <a:ext cx="8899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DEPARTMENT OF ELECTRONICS AND COMMUNICATION ENGINEERING</a:t>
            </a:r>
            <a:br/>
            <a:r>
              <a:t>Galgotias College of Engineering &amp; Technology, Greater Noida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114800"/>
            <a:ext cx="3931920" cy="1554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274320"/>
          <a:lstStyle/>
          <a:p>
            <a:pPr algn="ctr">
              <a:defRPr sz="1000" b="1">
                <a:solidFill>
                  <a:srgbClr val="F97316"/>
                </a:solidFill>
                <a:latin typeface="Segoe UI"/>
              </a:defRPr>
            </a:pPr>
            <a:r>
              <a:t>PROJECT MENTOR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  <a:latin typeface="Segoe UI"/>
              </a:defRPr>
            </a:pPr>
            <a:r>
              <a:t>[Faculty Mentor Name]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Assistant Professor, Dept of ECE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114800"/>
            <a:ext cx="3931920" cy="1554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27432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PRESENTED BY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1. Prasoon (Roll No: _____________)</a:t>
            </a:r>
            <a:br/>
            <a:r>
              <a:t>2. Member 2 (Roll No: _____________)</a:t>
            </a:r>
            <a:br/>
            <a:r>
              <a:t>3. Member 3 (Roll No: _____________)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Table of Contents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14B8A6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Introduction &amp; Context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Environmental importance, microclimates, and real-time monitoring challenges.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64592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F97316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Project Motivation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Why conventional loggers fall short and why local human thermal comfort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38BDF8"/>
                </a:solidFill>
                <a:latin typeface="Segoe UI"/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System Objectives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End-to-end design goals: edge acquisition, math computation, and web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64592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Hardware Architecture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ESP32 dual-core MCU, DHT22 capacitive sensor, SSD1306 I2C OLED display.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14B8A6"/>
                </a:solidFill>
                <a:latin typeface="Segoe UI"/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Software &amp; Cloud Stack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PlatformIO C++ firmware, MathWorks ThingSpeak API, and Vercel serverless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406908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F97316"/>
                </a:solidFill>
                <a:latin typeface="Segoe UI"/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Results &amp; Live Metrics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Real-world test data, 24-hr canvas history graph, and extreme temperature tracking.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38BDF8"/>
                </a:solidFill>
                <a:latin typeface="Segoe UI"/>
              </a:defRPr>
            </a:pPr>
            <a:r>
              <a:t>07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Conclusion &amp; Future Scope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System accomplishments, solar battery harvesting, and multi-sensor expansion.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4069080"/>
            <a:ext cx="2514600" cy="219456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08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References &amp; Standards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IEEE research papers, sensor datasheets, and official technical references.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Introduction &amp; 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182880" rIns="182880"/>
          <a:lstStyle/>
          <a:p>
            <a:pPr algn="ctr">
              <a:defRPr sz="1000" b="1">
                <a:solidFill>
                  <a:srgbClr val="F97316"/>
                </a:solidFill>
                <a:latin typeface="Segoe UI"/>
              </a:defRPr>
            </a:pPr>
            <a:r>
              <a:t>PILLAR 01</a:t>
            </a:r>
          </a:p>
          <a:p>
            <a:pPr>
              <a:spcBef>
                <a:spcPts val="800"/>
              </a:spcBef>
              <a:defRPr sz="1500" b="1">
                <a:solidFill>
                  <a:srgbClr val="F8FAFC"/>
                </a:solidFill>
                <a:latin typeface="Segoe UI"/>
              </a:defRPr>
            </a:pPr>
            <a:r>
              <a:t>Localized Microclimates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Macro weather stations are located tens of kilometers apart at airports, failing to reflect microclimates inside urban corridors, agricultural greenhouses, server rooms, and academic campuses.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645920"/>
            <a:ext cx="9144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182880" rIns="182880"/>
          <a:lstStyle/>
          <a:p>
            <a:pPr algn="ctr">
              <a:defRPr sz="1000" b="1">
                <a:solidFill>
                  <a:srgbClr val="F59E0B"/>
                </a:solidFill>
                <a:latin typeface="Segoe UI"/>
              </a:defRPr>
            </a:pPr>
            <a:r>
              <a:t>PILLAR 02</a:t>
            </a:r>
          </a:p>
          <a:p>
            <a:pPr>
              <a:spcBef>
                <a:spcPts val="800"/>
              </a:spcBef>
              <a:defRPr sz="1500" b="1">
                <a:solidFill>
                  <a:srgbClr val="F8FAFC"/>
                </a:solidFill>
                <a:latin typeface="Segoe UI"/>
              </a:defRPr>
            </a:pPr>
            <a:r>
              <a:t>Legacy System Bottlenecks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Conventional meteorological systems are bulky, cost-prohibitive ($1,000+), rely on manual data extraction, and lack unified instant cloud access for end-users.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64592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182880" rIns="18288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PILLAR 03</a:t>
            </a:r>
          </a:p>
          <a:p>
            <a:pPr>
              <a:spcBef>
                <a:spcPts val="800"/>
              </a:spcBef>
              <a:defRPr sz="1500" b="1">
                <a:solidFill>
                  <a:srgbClr val="F8FAFC"/>
                </a:solidFill>
                <a:latin typeface="Segoe UI"/>
              </a:defRPr>
            </a:pPr>
            <a:r>
              <a:t>IoT &amp; Edge Intelligence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Low-power microcontrollers like the ESP32 enable distributed sensing nodes with on-board edge computation (heat index, dew point) and Wi-Fi transmission.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91440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1540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182880" rIns="182880"/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PILLAR 04</a:t>
            </a:r>
          </a:p>
          <a:p>
            <a:pPr>
              <a:spcBef>
                <a:spcPts val="800"/>
              </a:spcBef>
              <a:defRPr sz="1500" b="1">
                <a:solidFill>
                  <a:srgbClr val="F8FAFC"/>
                </a:solidFill>
                <a:latin typeface="Segoe UI"/>
              </a:defRPr>
            </a:pPr>
            <a:r>
              <a:t>Dual Telemetry Paradigm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Local OLED display guarantees zero-latency on-site visual diagnostics even when offline, while ThingSpeak &amp; Vercel deliver global, browser-based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1645920"/>
            <a:ext cx="9144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PROJECT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System Design Objectives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14B8A6"/>
                </a:solidFill>
                <a:latin typeface="Segoe UI"/>
              </a:defRPr>
            </a:pPr>
            <a:r>
              <a:t>✔  Autonomous Edge Sensing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Interfacing ESP32 with DHT22 (AM2302) to sample temperature (-40 to 80°C) and relative humidity (0-100% RH) with high stability.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✔  On-Device Comfort Index Math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Implementing Steadman's Heat Index and Magnus Dew Point equations in firmware to detect heat exhaustion and condensation hazards.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✔  Local OLED Feedback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Driving a 0.96" 128x64 SSD1306 display over I2C bus at 400kHz to deliver crisp, immediate readings directly at the physical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02336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F59E0B"/>
                </a:solidFill>
                <a:latin typeface="Segoe UI"/>
              </a:defRPr>
            </a:pPr>
            <a:r>
              <a:t>✔  Secure IoT Cloud Ingestion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Packaging 4-field payload (Temp, Humidity, Heat Index, Dew Point) and streaming to MathWorks ThingSpeak every 20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02336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14B8A6"/>
                </a:solidFill>
                <a:latin typeface="Segoe UI"/>
              </a:defRPr>
            </a:pPr>
            <a:r>
              <a:t>✔  Modern Zero-Dependency Dashboard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Architecting a lightweight web interface with custom HTML5 Canvas dual-trace historical charts that runs smoothly on both desktop and mobile.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023360"/>
            <a:ext cx="3429000" cy="21488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✔  Serverless Cloud Deployment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Deploying the dashboard continuously via Vercel edge network and open-sourcing the firmware and frontend on GitHub.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Hardware Engineering &amp; Pinout Scheme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29000" cy="27432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950" b="1">
                <a:solidFill>
                  <a:srgbClr val="14B8A6"/>
                </a:solidFill>
                <a:latin typeface="Segoe UI"/>
              </a:defRPr>
            </a:pPr>
            <a:r>
              <a:t>CORE PROCESSOR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ESP32 Dev Module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Xtensa Dual-Core 32-bit @ 240MHz</a:t>
            </a:r>
            <a:br/>
            <a:r>
              <a:t>• Integrated 2.4 GHz Wi-Fi (802.11 b/g/n)</a:t>
            </a:r>
            <a:br/>
            <a:r>
              <a:t>• Low-power deep sleep support</a:t>
            </a:r>
            <a:br/>
            <a:r>
              <a:t>• 520 KB SRAM + 4MB Flash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429000" cy="27432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950" b="1">
                <a:solidFill>
                  <a:srgbClr val="F97316"/>
                </a:solidFill>
                <a:latin typeface="Segoe UI"/>
              </a:defRPr>
            </a:pPr>
            <a:r>
              <a:t>ENVIRONMENTAL SENSOR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DHT22 Sensor (AM2302)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Capacitive Humidity &amp; Thermistor</a:t>
            </a:r>
            <a:br/>
            <a:r>
              <a:t>• Temp Range: -40 to +80°C (±0.5°C)</a:t>
            </a:r>
            <a:br/>
            <a:r>
              <a:t>• Humidity Range: 0 to 100% RH (±2%)</a:t>
            </a:r>
            <a:br/>
            <a:r>
              <a:t>• Digital 1-wire communication (GPIO 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429000" cy="27432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950" b="1">
                <a:solidFill>
                  <a:srgbClr val="38BDF8"/>
                </a:solidFill>
                <a:latin typeface="Segoe UI"/>
              </a:defRPr>
            </a:pPr>
            <a:r>
              <a:t>EDGE DISPLAY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SSD1306 0.96" OLED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Monochrome 128x64 Graphic Display</a:t>
            </a:r>
            <a:br/>
            <a:r>
              <a:t>• High contrast &amp; wide viewing angle</a:t>
            </a:r>
            <a:br/>
            <a:r>
              <a:t>• I2C Interface: SDA (GPIO 21), SCL (GPIO 22)</a:t>
            </a:r>
            <a:br/>
            <a:r>
              <a:t>• Low power consumption (0.08W)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45775" cy="173736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74320" rIns="274320"/>
          <a:lstStyle/>
          <a:p>
            <a:pPr algn="ctr">
              <a:defRPr sz="1200" b="1">
                <a:solidFill>
                  <a:srgbClr val="14B8A6"/>
                </a:solidFill>
                <a:latin typeface="Segoe UI"/>
              </a:defRPr>
            </a:pPr>
            <a:r>
              <a:t>⚡ SCHEMATIC PIN MAPPING &amp; POWER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DHT22 Sensor ➜ VCC to 3.3V Pin  |  GND to Common Ground  |  Data OUT to GPIO 4 (10kΩ pull-up resistor to 3.3V)</a:t>
            </a:r>
            <a:br/>
            <a:r>
              <a:t>• SSD1306 Display ➜ VCC to 3.3V Pin  |  GND to Common Ground  |  SDA to GPIO 21  |  SCL to GPIO 22</a:t>
            </a:r>
            <a:br/>
            <a:r>
              <a:t>• Power &amp; Tethering ➜ 5V DC via Micro-USB cable supplied by power bank or mobile hotspot connection for live uplink.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TELEMETRY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Software Architecture &amp; Cloud Data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 rIns="18288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STEP 1: SENSING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DHT22 Sensor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Measures temperature &amp; relative humidity every 2s via single-wire digital pulse width modulation.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 rIns="182880"/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STEP 2: EDGE MATH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ESP32 Firmware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Calculates Heat Index &amp; Dew Point on-chip. Refreshes SSD1306 OLED via I2C at 400kHz.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 rIns="182880"/>
          <a:lstStyle/>
          <a:p>
            <a:pPr algn="ctr">
              <a:defRPr sz="1000" b="1">
                <a:solidFill>
                  <a:srgbClr val="F59E0B"/>
                </a:solidFill>
                <a:latin typeface="Segoe UI"/>
              </a:defRPr>
            </a:pPr>
            <a:r>
              <a:t>STEP 3: CLOUD INGEST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ThingSpeak IoT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HTTP GET/POST pushes 4 data fields every 20s to Channel 3531601. Stores historical feeds.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645920"/>
            <a:ext cx="2514600" cy="466344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 rIns="182880"/>
          <a:lstStyle/>
          <a:p>
            <a:pPr algn="ctr">
              <a:defRPr sz="1000" b="1">
                <a:solidFill>
                  <a:srgbClr val="F97316"/>
                </a:solidFill>
                <a:latin typeface="Segoe UI"/>
              </a:defRPr>
            </a:pPr>
            <a:r>
              <a:t>STEP 4: WEB DASHBOARD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Vercel CDN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Static dashboard polls ThingSpeak every 2s, plots 24-hr canvas graph, computes extremes.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FIELD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Experimental Results &amp; Real-Time 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560320" cy="20574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TEMPERATURE</a:t>
            </a:r>
          </a:p>
          <a:p>
            <a:pPr>
              <a:spcBef>
                <a:spcPts val="400"/>
              </a:spcBef>
              <a:defRPr sz="3200" b="1">
                <a:solidFill>
                  <a:srgbClr val="F97316"/>
                </a:solidFill>
                <a:latin typeface="Segoe UI"/>
              </a:defRPr>
            </a:pPr>
            <a:r>
              <a:t>26.8°C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DHT22 Calibrated Reading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2560320" cy="20574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HUMIDITY</a:t>
            </a:r>
          </a:p>
          <a:p>
            <a:pPr>
              <a:spcBef>
                <a:spcPts val="400"/>
              </a:spcBef>
              <a:defRPr sz="3200" b="1">
                <a:solidFill>
                  <a:srgbClr val="14B8A6"/>
                </a:solidFill>
                <a:latin typeface="Segoe UI"/>
              </a:defRPr>
            </a:pPr>
            <a:r>
              <a:t>69.8%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Relative Moisture 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560320" cy="20574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HEAT INDEX</a:t>
            </a:r>
          </a:p>
          <a:p>
            <a:pPr>
              <a:spcBef>
                <a:spcPts val="400"/>
              </a:spcBef>
              <a:defRPr sz="3200" b="1">
                <a:solidFill>
                  <a:srgbClr val="F59E0B"/>
                </a:solidFill>
                <a:latin typeface="Segoe UI"/>
              </a:defRPr>
            </a:pPr>
            <a:r>
              <a:t>28.5°C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Human Felt-Temperature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31920"/>
            <a:ext cx="2560320" cy="2057400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DEW POINT</a:t>
            </a:r>
          </a:p>
          <a:p>
            <a:pPr>
              <a:spcBef>
                <a:spcPts val="400"/>
              </a:spcBef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20.8°C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Condensation Threshold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645920"/>
            <a:ext cx="4876495" cy="434340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400" b="1">
                <a:solidFill>
                  <a:srgbClr val="14B8A6"/>
                </a:solidFill>
                <a:latin typeface="Segoe UI"/>
              </a:defRPr>
            </a:pPr>
            <a:r>
              <a:t>LIVE SYSTEM PERFORMANCE BENCHMARKS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Transmission Interval: </a:t>
            </a:r>
            <a:r>
              <a:rPr b="0" sz="1100">
                <a:solidFill>
                  <a:srgbClr val="94A3B8"/>
                </a:solidFill>
              </a:rPr>
              <a:t>ESP32 uplinks telemetry to ThingSpeak every 20 seconds flawlessly.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Client-Side Polling: </a:t>
            </a:r>
            <a:r>
              <a:rPr b="0" sz="1100">
                <a:solidFill>
                  <a:srgbClr val="94A3B8"/>
                </a:solidFill>
              </a:rPr>
              <a:t>Web dashboard pulls latest JSON feeds every 2s without screen flicker.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Dual-Trace Canvas Graph: </a:t>
            </a:r>
            <a:r>
              <a:rPr b="0" sz="1100">
                <a:solidFill>
                  <a:srgbClr val="94A3B8"/>
                </a:solidFill>
              </a:rPr>
              <a:t>Smooth Bezier spline curves rendered directly in HTML5 Canvas for the past 48 readings (~24 hours).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Active State &amp; Extremes: </a:t>
            </a:r>
            <a:r>
              <a:rPr b="0" sz="1100">
                <a:solidFill>
                  <a:srgbClr val="94A3B8"/>
                </a:solidFill>
              </a:rPr>
              <a:t>Dynamically parses historical session Low and High markers on the fly.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Graceful Degradation: </a:t>
            </a:r>
            <a:r>
              <a:rPr b="0" sz="1100">
                <a:solidFill>
                  <a:srgbClr val="94A3B8"/>
                </a:solidFill>
              </a:rPr>
              <a:t>Triggers connection warning if ESP32 power or Wi-Fi hotspot disconnects.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Live Web Link: </a:t>
            </a:r>
            <a:r>
              <a:rPr b="0" sz="1100">
                <a:solidFill>
                  <a:srgbClr val="94A3B8"/>
                </a:solidFill>
              </a:rPr>
              <a:t>smart-weather-station.vercel.app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8FAFC"/>
                </a:solidFill>
              </a:rPr>
              <a:t>• Source Code: </a:t>
            </a:r>
            <a:r>
              <a:rPr b="0" sz="1100">
                <a:solidFill>
                  <a:srgbClr val="94A3B8"/>
                </a:solidFill>
              </a:rPr>
              <a:t>github.com/prasoon9999/smart-weather-station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Conclusion &amp; Future Innovations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438912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PROJECT CONCLUSIONS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✔  End-to-End IoT Deployment: Seamlessly bridged physical hardware sensing (ESP32 + DHT22) with modern cloud platforms (ThingSpeak + Vercel).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✔  Edge Intelligence: Successfully demonstrated on-device computation of human thermal comfort indices (Heat Index and Dew Point).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✔  Zero-Dependency Lightweight UI: Crafted an ultra-fast, responsive dashboard without heavy external frameworks (pure HTML/CSS/Canvas).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✔  Real-World Reliability: Verified continuous 20-second sensor transmissions over mobile Wi-Fi tethering with full data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FUTURE EXPANSION ROADMAP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F59E0B"/>
                </a:solidFill>
              </a:rPr>
              <a:t>★  Solar Energy Harvesting: </a:t>
            </a:r>
            <a:r>
              <a:rPr b="0" sz="1150">
                <a:solidFill>
                  <a:srgbClr val="F8FAFC"/>
                </a:solidFill>
              </a:rPr>
              <a:t>Equipping system with 5V Solar panel + TP4056 Li-ion charge controller and ESP32 deep-sleep cycling for 100% off-grid autonomy.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F59E0B"/>
                </a:solidFill>
              </a:rPr>
              <a:t>★  Multi-Parameter Environmental Sensing: </a:t>
            </a:r>
            <a:r>
              <a:rPr b="0" sz="1150">
                <a:solidFill>
                  <a:srgbClr val="F8FAFC"/>
                </a:solidFill>
              </a:rPr>
              <a:t>Integrating BMP280 (barometric pressure / altitude), MQ-135 (air quality index), and optical rain tipping bucket.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F59E0B"/>
                </a:solidFill>
              </a:rPr>
              <a:t>★  Automated Emergency Push Alerts: </a:t>
            </a:r>
            <a:r>
              <a:rPr b="0" sz="1150">
                <a:solidFill>
                  <a:srgbClr val="F8FAFC"/>
                </a:solidFill>
              </a:rPr>
              <a:t>Setting up Webhooks for instant Telegram / WhatsApp / SMS push notifications during extreme heatwaves or storms.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F59E0B"/>
                </a:solidFill>
              </a:rPr>
              <a:t>★  Edge Machine Learning: </a:t>
            </a:r>
            <a:r>
              <a:rPr b="0" sz="1150">
                <a:solidFill>
                  <a:srgbClr val="F8FAFC"/>
                </a:solidFill>
              </a:rPr>
              <a:t>Deploying TinyML models to predict rainfall probability locally based on falling barometric pressure and humidity slope.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20040"/>
            <a:ext cx="685800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lIns="182880"/>
          <a:lstStyle/>
          <a:p>
            <a:pPr algn="ctr">
              <a:defRPr sz="850" b="1">
                <a:solidFill>
                  <a:srgbClr val="14B8A6"/>
                </a:solidFill>
                <a:latin typeface="Segoe UI"/>
              </a:defRPr>
            </a:pPr>
            <a:r>
              <a:t>GALGOTIAS COLLEGE OF ENGG. &amp; TECH.  •  ECE DEPARTMENT  •  DOCUMENTATION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07040" y="320040"/>
            <a:ext cx="777240" cy="347472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References &amp; Technical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14B8A6"/>
                </a:solidFill>
              </a:rPr>
              <a:t>[01]  Espressif Systems: </a:t>
            </a:r>
            <a:r>
              <a:rPr b="0" sz="1100">
                <a:solidFill>
                  <a:srgbClr val="F8FAFC"/>
                </a:solidFill>
              </a:rPr>
              <a:t>"ESP32 Series Datasheet - 2.4 GHz Wi-Fi and Bluetooth Combo Chip, Rev 3.9, 2023."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95728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F97316"/>
                </a:solidFill>
              </a:rPr>
              <a:t>[02]  Aosong Electronics: </a:t>
            </a:r>
            <a:r>
              <a:rPr b="0" sz="1100">
                <a:solidFill>
                  <a:srgbClr val="F8FAFC"/>
                </a:solidFill>
              </a:rPr>
              <a:t>"Digital-Output Relative Humidity &amp; Temperature Sensor DHT22 (AM2302) Datasheet, Guangzhou."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45536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38BDF8"/>
                </a:solidFill>
              </a:rPr>
              <a:t>[03]  IEEE Conference: </a:t>
            </a:r>
            <a:r>
              <a:rPr b="0" sz="1100">
                <a:solidFill>
                  <a:srgbClr val="F8FAFC"/>
                </a:solidFill>
              </a:rPr>
              <a:t>"K. S. Rao, V. S. Murthy, "IoT Based Real-Time Environmental and Weather Monitoring System using ESP32," IEEE ICST, 2021."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F59E0B"/>
                </a:solidFill>
              </a:rPr>
              <a:t>[04]  MathWorks Inc.: </a:t>
            </a:r>
            <a:r>
              <a:rPr b="0" sz="1100">
                <a:solidFill>
                  <a:srgbClr val="F8FAFC"/>
                </a:solidFill>
              </a:rPr>
              <a:t>"ThingSpeak IoT Analytics Platform Documentation: RESTful API &amp; Channels Architecture, 2024."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645152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14B8A6"/>
                </a:solidFill>
              </a:rPr>
              <a:t>[05]  IEEE Access Journal: </a:t>
            </a:r>
            <a:r>
              <a:rPr b="0" sz="1100">
                <a:solidFill>
                  <a:srgbClr val="F8FAFC"/>
                </a:solidFill>
              </a:rPr>
              <a:t>"N. H. Motlagh et al., "Internet of Things (IoT) for Weather Monitoring: Recent Advances and Applications," IEEE Access, vol. 8, 2020."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94959"/>
            <a:ext cx="10545775" cy="658368"/>
          </a:xfrm>
          <a:prstGeom prst="roundRect">
            <a:avLst/>
          </a:prstGeom>
          <a:solidFill>
            <a:srgbClr val="18223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/>
          <a:lstStyle/>
          <a:p>
            <a:pPr algn="ctr"/>
            <a:r>
              <a:rPr b="1" sz="1100">
                <a:solidFill>
                  <a:srgbClr val="F97316"/>
                </a:solidFill>
              </a:rPr>
              <a:t>[06]  Solomon Systech: </a:t>
            </a:r>
            <a:r>
              <a:rPr b="0" sz="1100">
                <a:solidFill>
                  <a:srgbClr val="F8FAFC"/>
                </a:solidFill>
              </a:rPr>
              <a:t>"SSD1306 128 x 64 Dot Matrix OLED/PLED Driver with Controller Technical Specification, Rev 1.1, 2018."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0"/>
          <a:lstStyle/>
          <a:p>
            <a:pPr algn="ctr">
              <a:defRPr sz="5000" b="1">
                <a:solidFill>
                  <a:srgbClr val="F8FAFC"/>
                </a:solidFill>
                <a:latin typeface="Segoe UI"/>
              </a:defRPr>
            </a:pPr>
            <a:r>
              <a:t>THANK YOU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14B8A6"/>
                </a:solidFill>
                <a:latin typeface="Segoe UI"/>
              </a:defRPr>
            </a:pPr>
            <a:r>
              <a:t>Questions &amp; Technical Discussion</a:t>
            </a:r>
          </a:p>
          <a:p>
            <a:pPr algn="ctr">
              <a:spcBef>
                <a:spcPts val="20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Galgotias College of Engineering &amp; Technology, Greater Noida</a:t>
            </a:r>
            <a:br/>
            <a:r>
              <a:t>Department of Electronics and Communication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4389120"/>
            <a:ext cx="6339535" cy="640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8016"/>
          <a:lstStyle/>
          <a:p>
            <a:pPr algn="ctr">
              <a:defRPr sz="1100" b="1">
                <a:solidFill>
                  <a:srgbClr val="F97316"/>
                </a:solidFill>
                <a:latin typeface="Segoe UI"/>
              </a:defRPr>
            </a:pPr>
            <a:r>
              <a:t>🌐 smart-weather-station.vercel.app   |   📦 github.com/prasoon9999/smart-weather-station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